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>
        <p:scale>
          <a:sx n="100" d="100"/>
          <a:sy n="100" d="100"/>
        </p:scale>
        <p:origin x="119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2191-05A1-BF72-C6CC-CFDE3D3DD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Byteflix</a:t>
            </a:r>
            <a:r>
              <a:rPr lang="en-US" dirty="0"/>
              <a:t>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A1C8B-0F5F-D1D9-BA21-564D8335B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2615882"/>
          </a:xfrm>
        </p:spPr>
        <p:txBody>
          <a:bodyPr/>
          <a:lstStyle/>
          <a:p>
            <a:r>
              <a:rPr lang="en-US" dirty="0"/>
              <a:t>Members:</a:t>
            </a:r>
          </a:p>
          <a:p>
            <a:r>
              <a:rPr lang="en-US" b="1" dirty="0"/>
              <a:t>Muhammad Choudhury</a:t>
            </a:r>
            <a:endParaRPr lang="en-US" dirty="0"/>
          </a:p>
          <a:p>
            <a:r>
              <a:rPr lang="en-US" b="1" dirty="0"/>
              <a:t>Maksym </a:t>
            </a:r>
            <a:r>
              <a:rPr lang="en-US" b="1" dirty="0" err="1"/>
              <a:t>Mostovyy</a:t>
            </a:r>
            <a:endParaRPr lang="en-US" dirty="0"/>
          </a:p>
          <a:p>
            <a:r>
              <a:rPr lang="en-US" b="1" dirty="0"/>
              <a:t>Diana Hinostroza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93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30BD-DEF0-D7BE-3214-5BA0F14E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24F1CC-A99A-6904-767F-CA4CF21E6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Members &amp; Roles (primary / backup)</a:t>
            </a:r>
            <a:br>
              <a:rPr lang="en-US" dirty="0"/>
            </a:br>
            <a:r>
              <a:rPr lang="en-US" dirty="0"/>
              <a:t>- PM / Delivery Lead:  Diana Hinostroza (Backup: Muhammad Choudhury)</a:t>
            </a:r>
            <a:br>
              <a:rPr lang="en-US" dirty="0"/>
            </a:br>
            <a:r>
              <a:rPr lang="en-US" dirty="0"/>
              <a:t>- ML Lead (modeling/eval):  Maksym </a:t>
            </a:r>
            <a:r>
              <a:rPr lang="en-US" dirty="0" err="1"/>
              <a:t>Mostovyy</a:t>
            </a:r>
            <a:r>
              <a:rPr lang="en-US" dirty="0"/>
              <a:t> (Backup: Muhammad Choudhury)</a:t>
            </a:r>
            <a:br>
              <a:rPr lang="en-US" dirty="0"/>
            </a:br>
            <a:r>
              <a:rPr lang="en-US" dirty="0"/>
              <a:t>- Data/Streaming Lead (Kafka/ETL): Muhammad Choudhury (Backup: Diana Hinostroza)</a:t>
            </a:r>
            <a:br>
              <a:rPr lang="en-US" dirty="0"/>
            </a:br>
            <a:r>
              <a:rPr lang="en-US" dirty="0"/>
              <a:t>- DevOps/Cloud Lead (CI/CD, deploy, SRE): Muhammad Choudhury (Backup: Maksym </a:t>
            </a:r>
            <a:r>
              <a:rPr lang="en-US" dirty="0" err="1"/>
              <a:t>Mostovyy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2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EB6D3-2E98-3B45-4EE1-2FB56CE9C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C8F50-C178-FBF8-FF29-4ACD5D10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The goal of </a:t>
            </a:r>
            <a:r>
              <a:rPr lang="en-US" b="1" dirty="0" err="1"/>
              <a:t>Byteflix</a:t>
            </a:r>
            <a:r>
              <a:rPr lang="en-US" dirty="0"/>
              <a:t> is to build and operate a production-grade, cloud-native movie recommendation system.</a:t>
            </a:r>
          </a:p>
          <a:p>
            <a:r>
              <a:rPr lang="en-US" b="1" dirty="0"/>
              <a:t>Probes/Traffic</a:t>
            </a:r>
            <a:r>
              <a:rPr lang="en-US" dirty="0"/>
              <a:t> hits Cloud Run. -&gt; </a:t>
            </a:r>
            <a:r>
              <a:rPr lang="en-US" b="1" dirty="0"/>
              <a:t>API</a:t>
            </a:r>
            <a:r>
              <a:rPr lang="en-US" dirty="0"/>
              <a:t> logs events to </a:t>
            </a:r>
            <a:r>
              <a:rPr lang="en-US" b="1" dirty="0"/>
              <a:t>Confluent Kafka</a:t>
            </a:r>
            <a:r>
              <a:rPr lang="en-US" dirty="0"/>
              <a:t>. -&gt; </a:t>
            </a:r>
            <a:r>
              <a:rPr lang="en-US" b="1" dirty="0" err="1"/>
              <a:t>Ingestor</a:t>
            </a:r>
            <a:r>
              <a:rPr lang="en-US" dirty="0"/>
              <a:t> moves events to </a:t>
            </a:r>
            <a:r>
              <a:rPr lang="en-US" b="1" dirty="0"/>
              <a:t>S3</a:t>
            </a:r>
            <a:r>
              <a:rPr lang="en-US" dirty="0"/>
              <a:t> (Data Lake). -&gt; </a:t>
            </a:r>
            <a:r>
              <a:rPr lang="en-US" b="1" dirty="0" err="1"/>
              <a:t>Retrainer</a:t>
            </a:r>
            <a:r>
              <a:rPr lang="en-US" dirty="0"/>
              <a:t> consumes from S3.</a:t>
            </a:r>
          </a:p>
          <a:p>
            <a:r>
              <a:rPr lang="en-US" dirty="0"/>
              <a:t>Tools used: </a:t>
            </a:r>
          </a:p>
          <a:p>
            <a:pPr lvl="1"/>
            <a:r>
              <a:rPr lang="en-US" dirty="0"/>
              <a:t>Kafka: Real-time Streaming</a:t>
            </a:r>
          </a:p>
          <a:p>
            <a:pPr lvl="1"/>
            <a:r>
              <a:rPr lang="en-US" dirty="0"/>
              <a:t>Docker: Containerization</a:t>
            </a:r>
          </a:p>
          <a:p>
            <a:pPr lvl="1"/>
            <a:r>
              <a:rPr lang="en-US" dirty="0"/>
              <a:t>Google Cloud Run: Serverless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9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0C7EF-8391-02EF-404F-52BBEC8C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n-US" dirty="0"/>
              <a:t>Storage and Topic Clusters</a:t>
            </a:r>
          </a:p>
        </p:txBody>
      </p:sp>
      <p:sp>
        <p:nvSpPr>
          <p:cNvPr id="14" name="Round Diagonal Corner Rectangle 9">
            <a:extLst>
              <a:ext uri="{FF2B5EF4-FFF2-40B4-BE49-F238E27FC236}">
                <a16:creationId xmlns:a16="http://schemas.microsoft.com/office/drawing/2014/main" id="{A3D1FEF8-5149-4AC1-8D77-B256637F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074342-A984-7DF0-2113-B1D61A4E9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40" y="1147146"/>
            <a:ext cx="4254279" cy="220159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18C1D0-AB1D-6D40-E79C-B4BE54853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311" y="3594798"/>
            <a:ext cx="4274935" cy="2201591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87F678-BBC7-139A-146A-FB4CBDD5A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/>
          </a:bodyPr>
          <a:lstStyle/>
          <a:p>
            <a:r>
              <a:rPr lang="en-US" dirty="0"/>
              <a:t>Our </a:t>
            </a:r>
            <a:r>
              <a:rPr lang="en-US" dirty="0" err="1"/>
              <a:t>datalake</a:t>
            </a:r>
            <a:r>
              <a:rPr lang="en-US" dirty="0"/>
              <a:t> storage for the models and data is all stored in AWS S3 Buckets</a:t>
            </a:r>
          </a:p>
          <a:p>
            <a:endParaRPr lang="en-US" dirty="0"/>
          </a:p>
          <a:p>
            <a:r>
              <a:rPr lang="en-US" dirty="0"/>
              <a:t>We use Confluent to manage and operate all the Kafka topics and  clusters</a:t>
            </a:r>
          </a:p>
        </p:txBody>
      </p:sp>
    </p:spTree>
    <p:extLst>
      <p:ext uri="{BB962C8B-B14F-4D97-AF65-F5344CB8AC3E}">
        <p14:creationId xmlns:p14="http://schemas.microsoft.com/office/powerpoint/2010/main" val="419346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FCD44-5951-47F8-92CA-68658450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n-US" dirty="0"/>
              <a:t>Monitoring, Cloud Hosting, and CI/CD</a:t>
            </a:r>
          </a:p>
        </p:txBody>
      </p:sp>
      <p:sp>
        <p:nvSpPr>
          <p:cNvPr id="16" name="Round Diagonal Corner Rectangle 9">
            <a:extLst>
              <a:ext uri="{FF2B5EF4-FFF2-40B4-BE49-F238E27FC236}">
                <a16:creationId xmlns:a16="http://schemas.microsoft.com/office/drawing/2014/main" id="{A3D1FEF8-5149-4AC1-8D77-B256637F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33821D-A9C6-4FE0-E1FF-FACF6A756B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525" y="1147146"/>
            <a:ext cx="3508509" cy="2201590"/>
          </a:xfrm>
          <a:prstGeom prst="rect">
            <a:avLst/>
          </a:prstGeom>
        </p:spPr>
      </p:pic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C5BF0E0B-F67C-12DC-BB97-F673ABBCE4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88" y="3663829"/>
            <a:ext cx="4635583" cy="1900587"/>
          </a:xfrm>
          <a:prstGeom prst="rect">
            <a:avLst/>
          </a:prstGeom>
        </p:spPr>
      </p:pic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72463A92-3003-856D-FFEE-E948D295E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7929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used GitHub for the entire CI/CD lifecycle as well as the automated retraining and probes</a:t>
            </a:r>
          </a:p>
          <a:p>
            <a:endParaRPr lang="en-US" dirty="0"/>
          </a:p>
          <a:p>
            <a:r>
              <a:rPr lang="en-US" dirty="0"/>
              <a:t>We used Google Cloud Run for all the Cloud Hosting monitoring (Request Count, latencies, etc.)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902553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B5325-4CA0-ABB3-2533-017645F9A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720C8797-0F94-BAE3-8F51-305D3D56F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EBEE544-A791-2336-7CA5-441A871E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5C18F4BC-2247-325D-B073-30812A031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F7B4FD8-1861-AFF2-C2C9-CD430E5D0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29EE014-C45A-6F5C-BDEC-D73B0FD6A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EAEF37E3-B27E-6117-2DA2-BEB5B7C24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944982E7-76C2-3B9B-4E8A-6053B645F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AD129FF5-010D-FDEF-F645-D6E23B468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916819F-6A1A-8E10-724A-EFD6B4101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88D11FC1-D13D-EFC3-3E49-074C4936E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56A74AC-CE17-0153-AB29-CCD37180E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5D5EEA4D-82E7-7EF6-F521-0A3E6B439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F75056EB-BAE3-DF10-E856-A0909B7F1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C19C1FF8-9DDC-D905-5FE3-81511ED203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FD7FBA4E-B1A7-A79F-3142-10E7DAD4B7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13BC7299-FB2F-512B-ACBB-CEFA02C8C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1D8B5A6C-69F4-F333-CED7-F333E1B09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9D7CB1A5-D6EA-7361-52B1-C1966DC65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6FE5D2B4-F200-4A13-4B35-387785A64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8E3DD11-48E3-003F-2628-B20753792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CC30ECB4-910A-5678-36ED-71270DD36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6EE8C99A-F5C8-FD9C-D570-0CBD6084C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3ADF28E3-342C-0024-BD39-CC8371807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1BF09C59-490A-E9A8-4FAE-F747FC893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1594EA4B-041F-30B4-7A8F-6EDAFD16D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860BE246-CC84-76A6-EC5F-DD6B76F9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42A932D0-2AAF-C5A4-6D2E-D9B571FB9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8B49AA74-C81C-65F9-D153-B38EE9B41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D3834E06-B770-CDD8-EA3F-638649014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8FE621FB-2352-3261-DB62-C09347D53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51DDF4E9-F747-287C-12BE-D9A824DF6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D12D3B04-EDBB-F9BF-3FE1-D76B89C17B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EDA03C9B-B68E-149D-FC01-3327B028E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67612183-EF88-50BA-C386-25DC7228E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3A69AE77-B1E8-62FC-DB46-3349BB372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7AA73463-F035-EEBA-676F-90A59BDD63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AB768000-0164-ADF8-92C6-293F4E5D33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1048F582-E8A2-926F-D223-F3DA22EE6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04D5215F-A0B7-7621-0674-5D79FD9B9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05E00F93-CDDB-BDCD-D610-7965034C7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id="{B2875E60-2F34-9984-B524-8C3163D9A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56391E86-0BEC-51E5-C1C4-465A9CD75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>
              <a:extLst>
                <a:ext uri="{FF2B5EF4-FFF2-40B4-BE49-F238E27FC236}">
                  <a16:creationId xmlns:a16="http://schemas.microsoft.com/office/drawing/2014/main" id="{75BE1CCC-5B09-5E40-1657-1D6B8B082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9E4E78D-2534-7828-2AE9-8ADF45763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A5866328-54C8-7B81-5646-FF744D95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id="{A451C46D-9EB6-69B9-E4C0-456C5C3690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id="{B053943C-0799-B445-D0E9-F634E567E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id="{2AEAE430-04DD-DAEC-568F-F8CA58B49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id="{83C825F2-F7D8-F4D3-3CF4-4E86E8CF3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8BB3EAC2-0A66-94A0-B623-20CB531B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id="{437B1E46-5F5D-C7E9-A520-A915A80C9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id="{1F1C8760-0420-B7F4-3559-509561D05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id="{3B5979A9-DAA1-E944-EC6E-DDE7171424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>
              <a:extLst>
                <a:ext uri="{FF2B5EF4-FFF2-40B4-BE49-F238E27FC236}">
                  <a16:creationId xmlns:a16="http://schemas.microsoft.com/office/drawing/2014/main" id="{8F8BD451-5F71-8F32-D445-2161E739D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id="{BC0A9E16-04B6-C0E6-22E1-74B28DBF9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>
              <a:extLst>
                <a:ext uri="{FF2B5EF4-FFF2-40B4-BE49-F238E27FC236}">
                  <a16:creationId xmlns:a16="http://schemas.microsoft.com/office/drawing/2014/main" id="{58C31D01-39FF-2BC4-F1E2-81A708E7E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B18A8B77-C428-1FE5-E182-00AE0C4AD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2003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34821DA-9CBE-4C9A-2AAB-6D826689A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0" name="Rectangle 5">
              <a:extLst>
                <a:ext uri="{FF2B5EF4-FFF2-40B4-BE49-F238E27FC236}">
                  <a16:creationId xmlns:a16="http://schemas.microsoft.com/office/drawing/2014/main" id="{E3A636D7-2B27-7EBB-7161-903C82364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CB04B920-3AED-C72D-08E6-F66D3643F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707A58BB-BFB4-79B3-CEF8-051634B40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Rectangle 8">
              <a:extLst>
                <a:ext uri="{FF2B5EF4-FFF2-40B4-BE49-F238E27FC236}">
                  <a16:creationId xmlns:a16="http://schemas.microsoft.com/office/drawing/2014/main" id="{9485F6CB-64AC-B867-C47C-E6DFDD09F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9">
              <a:extLst>
                <a:ext uri="{FF2B5EF4-FFF2-40B4-BE49-F238E27FC236}">
                  <a16:creationId xmlns:a16="http://schemas.microsoft.com/office/drawing/2014/main" id="{F93E04E3-0D52-F301-2C81-78A241C72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0">
              <a:extLst>
                <a:ext uri="{FF2B5EF4-FFF2-40B4-BE49-F238E27FC236}">
                  <a16:creationId xmlns:a16="http://schemas.microsoft.com/office/drawing/2014/main" id="{A42C14FF-754C-324F-3544-8200E5675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1">
              <a:extLst>
                <a:ext uri="{FF2B5EF4-FFF2-40B4-BE49-F238E27FC236}">
                  <a16:creationId xmlns:a16="http://schemas.microsoft.com/office/drawing/2014/main" id="{3E535BEF-4252-8289-0E1C-35747EBF3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2">
              <a:extLst>
                <a:ext uri="{FF2B5EF4-FFF2-40B4-BE49-F238E27FC236}">
                  <a16:creationId xmlns:a16="http://schemas.microsoft.com/office/drawing/2014/main" id="{64A4CA5B-D506-AE09-2FCD-BB9D849CA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3">
              <a:extLst>
                <a:ext uri="{FF2B5EF4-FFF2-40B4-BE49-F238E27FC236}">
                  <a16:creationId xmlns:a16="http://schemas.microsoft.com/office/drawing/2014/main" id="{78932B95-8684-0DF0-FC52-21622DF39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4">
              <a:extLst>
                <a:ext uri="{FF2B5EF4-FFF2-40B4-BE49-F238E27FC236}">
                  <a16:creationId xmlns:a16="http://schemas.microsoft.com/office/drawing/2014/main" id="{73110C2B-E2E6-717D-A15E-820A4583B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5">
              <a:extLst>
                <a:ext uri="{FF2B5EF4-FFF2-40B4-BE49-F238E27FC236}">
                  <a16:creationId xmlns:a16="http://schemas.microsoft.com/office/drawing/2014/main" id="{8F8B74B4-80B1-CEE4-ACEF-391424DE8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416DE319-5784-4A2F-02ED-4118D4993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7">
              <a:extLst>
                <a:ext uri="{FF2B5EF4-FFF2-40B4-BE49-F238E27FC236}">
                  <a16:creationId xmlns:a16="http://schemas.microsoft.com/office/drawing/2014/main" id="{1F6E0288-093C-04F8-16D3-828F808A81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8">
              <a:extLst>
                <a:ext uri="{FF2B5EF4-FFF2-40B4-BE49-F238E27FC236}">
                  <a16:creationId xmlns:a16="http://schemas.microsoft.com/office/drawing/2014/main" id="{4E05C7BF-B419-759C-EC27-016177BEB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9EC38C88-724C-38FD-AA41-DC0005FDF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0">
              <a:extLst>
                <a:ext uri="{FF2B5EF4-FFF2-40B4-BE49-F238E27FC236}">
                  <a16:creationId xmlns:a16="http://schemas.microsoft.com/office/drawing/2014/main" id="{2886C5B6-9914-41DF-0674-C92A8F200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1">
              <a:extLst>
                <a:ext uri="{FF2B5EF4-FFF2-40B4-BE49-F238E27FC236}">
                  <a16:creationId xmlns:a16="http://schemas.microsoft.com/office/drawing/2014/main" id="{D1413A8A-5D28-73DD-AFA2-A1AC0D11F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2">
              <a:extLst>
                <a:ext uri="{FF2B5EF4-FFF2-40B4-BE49-F238E27FC236}">
                  <a16:creationId xmlns:a16="http://schemas.microsoft.com/office/drawing/2014/main" id="{4CCE7E12-7928-348B-F71D-D4D86A057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3">
              <a:extLst>
                <a:ext uri="{FF2B5EF4-FFF2-40B4-BE49-F238E27FC236}">
                  <a16:creationId xmlns:a16="http://schemas.microsoft.com/office/drawing/2014/main" id="{259860A5-C936-D44E-4F16-C198AD409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4">
              <a:extLst>
                <a:ext uri="{FF2B5EF4-FFF2-40B4-BE49-F238E27FC236}">
                  <a16:creationId xmlns:a16="http://schemas.microsoft.com/office/drawing/2014/main" id="{FD7CC974-A645-A773-CF2A-0C254CF459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5">
              <a:extLst>
                <a:ext uri="{FF2B5EF4-FFF2-40B4-BE49-F238E27FC236}">
                  <a16:creationId xmlns:a16="http://schemas.microsoft.com/office/drawing/2014/main" id="{6535F745-1DF0-F3A6-130D-3AE9E86B8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6">
              <a:extLst>
                <a:ext uri="{FF2B5EF4-FFF2-40B4-BE49-F238E27FC236}">
                  <a16:creationId xmlns:a16="http://schemas.microsoft.com/office/drawing/2014/main" id="{EAF5458D-F473-6A7D-2BAC-060E18888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7">
              <a:extLst>
                <a:ext uri="{FF2B5EF4-FFF2-40B4-BE49-F238E27FC236}">
                  <a16:creationId xmlns:a16="http://schemas.microsoft.com/office/drawing/2014/main" id="{0243E75C-8FF6-0763-134B-9FBB5EBE0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8">
              <a:extLst>
                <a:ext uri="{FF2B5EF4-FFF2-40B4-BE49-F238E27FC236}">
                  <a16:creationId xmlns:a16="http://schemas.microsoft.com/office/drawing/2014/main" id="{2A5CC878-0ECB-A33C-2E47-216A23BDE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9">
              <a:extLst>
                <a:ext uri="{FF2B5EF4-FFF2-40B4-BE49-F238E27FC236}">
                  <a16:creationId xmlns:a16="http://schemas.microsoft.com/office/drawing/2014/main" id="{9C0DBCA8-8CA5-BD74-C05F-654AC4FB2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30">
              <a:extLst>
                <a:ext uri="{FF2B5EF4-FFF2-40B4-BE49-F238E27FC236}">
                  <a16:creationId xmlns:a16="http://schemas.microsoft.com/office/drawing/2014/main" id="{62D2B1FF-AFBD-CBFB-AB59-0E05C1FBBD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1">
              <a:extLst>
                <a:ext uri="{FF2B5EF4-FFF2-40B4-BE49-F238E27FC236}">
                  <a16:creationId xmlns:a16="http://schemas.microsoft.com/office/drawing/2014/main" id="{4A1383C3-C320-6E71-8ADE-5060B59E9D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2">
              <a:extLst>
                <a:ext uri="{FF2B5EF4-FFF2-40B4-BE49-F238E27FC236}">
                  <a16:creationId xmlns:a16="http://schemas.microsoft.com/office/drawing/2014/main" id="{326AEE9B-40CC-6FBE-AF91-5575F379E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Rectangle 33">
              <a:extLst>
                <a:ext uri="{FF2B5EF4-FFF2-40B4-BE49-F238E27FC236}">
                  <a16:creationId xmlns:a16="http://schemas.microsoft.com/office/drawing/2014/main" id="{95BEF1DC-5F64-DECE-C4AD-4EF95B4BD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6E0BBEB5-2F21-A175-7FE5-64AA39EBB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766D3DAD-2061-3384-9BC3-03465E8F3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CC75B285-B257-4FD9-7856-8A22F0168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77D55796-170C-E82C-81B2-E02CA0D7A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330FD5BC-80C9-8D22-179F-EB3805CDC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A67D7588-D7E4-426B-5CE8-4E87B2DA5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C2654066-C56F-980F-2012-A71C8CD73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1">
              <a:extLst>
                <a:ext uri="{FF2B5EF4-FFF2-40B4-BE49-F238E27FC236}">
                  <a16:creationId xmlns:a16="http://schemas.microsoft.com/office/drawing/2014/main" id="{3DEAE68C-C551-7104-DFF0-2B6AE018E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2">
              <a:extLst>
                <a:ext uri="{FF2B5EF4-FFF2-40B4-BE49-F238E27FC236}">
                  <a16:creationId xmlns:a16="http://schemas.microsoft.com/office/drawing/2014/main" id="{BC198F6B-BC87-A0BE-DC7A-B16B28840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3">
              <a:extLst>
                <a:ext uri="{FF2B5EF4-FFF2-40B4-BE49-F238E27FC236}">
                  <a16:creationId xmlns:a16="http://schemas.microsoft.com/office/drawing/2014/main" id="{28C4563A-357D-D387-2EC3-5533250D6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4">
              <a:extLst>
                <a:ext uri="{FF2B5EF4-FFF2-40B4-BE49-F238E27FC236}">
                  <a16:creationId xmlns:a16="http://schemas.microsoft.com/office/drawing/2014/main" id="{A0F86BC1-A6B1-F5D8-2459-EEC427100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Rectangle 45">
              <a:extLst>
                <a:ext uri="{FF2B5EF4-FFF2-40B4-BE49-F238E27FC236}">
                  <a16:creationId xmlns:a16="http://schemas.microsoft.com/office/drawing/2014/main" id="{63E104B0-0449-1778-3E01-F9C08A268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46">
              <a:extLst>
                <a:ext uri="{FF2B5EF4-FFF2-40B4-BE49-F238E27FC236}">
                  <a16:creationId xmlns:a16="http://schemas.microsoft.com/office/drawing/2014/main" id="{0BA7A8D7-1F38-E05C-07FB-A72419071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7">
              <a:extLst>
                <a:ext uri="{FF2B5EF4-FFF2-40B4-BE49-F238E27FC236}">
                  <a16:creationId xmlns:a16="http://schemas.microsoft.com/office/drawing/2014/main" id="{4B26947D-2D3D-E54A-5765-8DB74EC60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B70139FA-881A-EBAF-3EB2-42B001485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9">
              <a:extLst>
                <a:ext uri="{FF2B5EF4-FFF2-40B4-BE49-F238E27FC236}">
                  <a16:creationId xmlns:a16="http://schemas.microsoft.com/office/drawing/2014/main" id="{45D53CFD-66BB-ED86-4A7D-447C6B47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0EC2C6D9-CA4F-8839-F4E6-8CE97A5A6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1">
              <a:extLst>
                <a:ext uri="{FF2B5EF4-FFF2-40B4-BE49-F238E27FC236}">
                  <a16:creationId xmlns:a16="http://schemas.microsoft.com/office/drawing/2014/main" id="{CD276748-56DA-AE49-3DA9-2C02C925F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2">
              <a:extLst>
                <a:ext uri="{FF2B5EF4-FFF2-40B4-BE49-F238E27FC236}">
                  <a16:creationId xmlns:a16="http://schemas.microsoft.com/office/drawing/2014/main" id="{F05C4B76-9C53-8E6B-BAD8-80B002581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3">
              <a:extLst>
                <a:ext uri="{FF2B5EF4-FFF2-40B4-BE49-F238E27FC236}">
                  <a16:creationId xmlns:a16="http://schemas.microsoft.com/office/drawing/2014/main" id="{4930A0CE-6CCC-845D-1BD3-4DA5619E7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4">
              <a:extLst>
                <a:ext uri="{FF2B5EF4-FFF2-40B4-BE49-F238E27FC236}">
                  <a16:creationId xmlns:a16="http://schemas.microsoft.com/office/drawing/2014/main" id="{0BA3C8A3-7965-1528-C924-BA2707260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5">
              <a:extLst>
                <a:ext uri="{FF2B5EF4-FFF2-40B4-BE49-F238E27FC236}">
                  <a16:creationId xmlns:a16="http://schemas.microsoft.com/office/drawing/2014/main" id="{3C07484A-17E0-680A-961D-61CF9B03B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6">
              <a:extLst>
                <a:ext uri="{FF2B5EF4-FFF2-40B4-BE49-F238E27FC236}">
                  <a16:creationId xmlns:a16="http://schemas.microsoft.com/office/drawing/2014/main" id="{380D31AA-ED85-DD8A-7C89-732CAD7DB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7">
              <a:extLst>
                <a:ext uri="{FF2B5EF4-FFF2-40B4-BE49-F238E27FC236}">
                  <a16:creationId xmlns:a16="http://schemas.microsoft.com/office/drawing/2014/main" id="{1BA69712-A509-91B9-EE07-7EE261AC3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8">
              <a:extLst>
                <a:ext uri="{FF2B5EF4-FFF2-40B4-BE49-F238E27FC236}">
                  <a16:creationId xmlns:a16="http://schemas.microsoft.com/office/drawing/2014/main" id="{3B3AF567-E1B1-D79A-4853-41EE463D1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5" name="Picture 2">
            <a:extLst>
              <a:ext uri="{FF2B5EF4-FFF2-40B4-BE49-F238E27FC236}">
                <a16:creationId xmlns:a16="http://schemas.microsoft.com/office/drawing/2014/main" id="{64DCF0E3-E7E6-7F29-10AE-12FCB99DB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DF2F43-2C5B-11D1-032D-3ACD8642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Video Demo</a:t>
            </a:r>
          </a:p>
        </p:txBody>
      </p:sp>
      <p:sp useBgFill="1">
        <p:nvSpPr>
          <p:cNvPr id="127" name="Round Diagonal Corner Rectangle 6">
            <a:extLst>
              <a:ext uri="{FF2B5EF4-FFF2-40B4-BE49-F238E27FC236}">
                <a16:creationId xmlns:a16="http://schemas.microsoft.com/office/drawing/2014/main" id="{DF6FA05D-F8F4-0897-2737-1E6687F3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39191-E65D-D5D8-0A55-770CCB44CDB8}"/>
              </a:ext>
            </a:extLst>
          </p:cNvPr>
          <p:cNvSpPr txBox="1"/>
          <p:nvPr/>
        </p:nvSpPr>
        <p:spPr>
          <a:xfrm>
            <a:off x="2413000" y="3170794"/>
            <a:ext cx="3177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/4qMd-QqddiU</a:t>
            </a:r>
          </a:p>
        </p:txBody>
      </p:sp>
    </p:spTree>
    <p:extLst>
      <p:ext uri="{BB962C8B-B14F-4D97-AF65-F5344CB8AC3E}">
        <p14:creationId xmlns:p14="http://schemas.microsoft.com/office/powerpoint/2010/main" val="3183256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2627</TotalTime>
  <Words>249</Words>
  <Application>Microsoft Macintosh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Byteflix Presentation</vt:lpstr>
      <vt:lpstr>Team Members</vt:lpstr>
      <vt:lpstr>Goal</vt:lpstr>
      <vt:lpstr>Storage and Topic Clusters</vt:lpstr>
      <vt:lpstr>Monitoring, Cloud Hosting, and CI/CD</vt:lpstr>
      <vt:lpstr>Video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Choudhury</dc:creator>
  <cp:lastModifiedBy>Muhammad Choudhury</cp:lastModifiedBy>
  <cp:revision>3</cp:revision>
  <dcterms:created xsi:type="dcterms:W3CDTF">2025-11-23T22:46:16Z</dcterms:created>
  <dcterms:modified xsi:type="dcterms:W3CDTF">2025-11-25T18:33:57Z</dcterms:modified>
</cp:coreProperties>
</file>